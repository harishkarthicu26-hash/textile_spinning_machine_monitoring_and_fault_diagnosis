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Inter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1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1525" y="3965078"/>
            <a:ext cx="1064895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71437" y="1349871"/>
            <a:ext cx="12049125" cy="1102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90"/>
              </a:lnSpc>
            </a:pPr>
            <a:r>
              <a:rPr sz="3600" b="1" i="0" u="none" dirty="0">
                <a:solidFill>
                  <a:srgbClr val="0F172A"/>
                </a:solidFill>
                <a:latin typeface="Inter"/>
              </a:rPr>
              <a:t>Advanced Intelligent Textile Spinning Machine Monitoring, Fault Diagnosis and Condition-Based Maintenance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54439" y="3212603"/>
            <a:ext cx="788312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0" i="0" u="none">
                <a:solidFill>
                  <a:srgbClr val="475569"/>
                </a:solidFill>
                <a:latin typeface="Inter"/>
              </a:rPr>
              <a:t>An Arduino-Based Embedded Monitoring Prototype with Fault Prioritization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4279403"/>
            <a:ext cx="125604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64748B"/>
                </a:solidFill>
                <a:latin typeface="Inter"/>
              </a:rPr>
              <a:t>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4546103"/>
            <a:ext cx="3361177" cy="800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b="0" i="0" u="none" dirty="0">
                <a:solidFill>
                  <a:srgbClr val="0F172A"/>
                </a:solidFill>
                <a:latin typeface="Inter"/>
              </a:rPr>
              <a:t>Bharanidaran S </a:t>
            </a:r>
            <a:r>
              <a:rPr lang="en-US" sz="1600" b="0" i="0" u="none" dirty="0">
                <a:solidFill>
                  <a:srgbClr val="0F172A"/>
                </a:solidFill>
                <a:latin typeface="Inter"/>
              </a:rPr>
              <a:t>- </a:t>
            </a:r>
            <a:r>
              <a:rPr lang="en-IN" dirty="0"/>
              <a:t>CB.SC.U4CSE25609</a:t>
            </a:r>
            <a:br>
              <a:rPr lang="en-US" sz="1600" b="0" i="0" u="none" dirty="0">
                <a:solidFill>
                  <a:srgbClr val="0F172A"/>
                </a:solidFill>
                <a:latin typeface="Inter"/>
              </a:rPr>
            </a:br>
            <a:r>
              <a:rPr lang="en-US" b="0" i="0" u="none" dirty="0">
                <a:solidFill>
                  <a:srgbClr val="0F172A"/>
                </a:solidFill>
                <a:latin typeface="Inter"/>
              </a:rPr>
              <a:t>Dharshan S </a:t>
            </a:r>
            <a:r>
              <a:rPr lang="en-US" sz="1600" b="0" i="0" u="none" dirty="0">
                <a:solidFill>
                  <a:srgbClr val="0F172A"/>
                </a:solidFill>
                <a:latin typeface="Inter"/>
              </a:rPr>
              <a:t>- </a:t>
            </a:r>
            <a:r>
              <a:rPr lang="en-IN" dirty="0"/>
              <a:t>CB.SC.U4CSE25614</a:t>
            </a:r>
            <a:endParaRPr lang="en-US" sz="1600" b="0" i="0" u="none" dirty="0">
              <a:solidFill>
                <a:srgbClr val="0F172A"/>
              </a:solidFill>
              <a:latin typeface="Inter"/>
            </a:endParaRPr>
          </a:p>
          <a:p>
            <a:pPr algn="l"/>
            <a:endParaRPr sz="1600" b="0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CA832-A38A-A63F-23B6-B5CC666C81D6}"/>
              </a:ext>
            </a:extLst>
          </p:cNvPr>
          <p:cNvSpPr txBox="1"/>
          <p:nvPr/>
        </p:nvSpPr>
        <p:spPr>
          <a:xfrm>
            <a:off x="5005720" y="4517840"/>
            <a:ext cx="3414909" cy="800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b="0" i="0" u="none" dirty="0">
                <a:solidFill>
                  <a:srgbClr val="0F172A"/>
                </a:solidFill>
                <a:latin typeface="Inter"/>
              </a:rPr>
              <a:t>Saswin S K </a:t>
            </a:r>
            <a:r>
              <a:rPr lang="en-US" sz="1600" b="0" i="0" u="none" dirty="0">
                <a:solidFill>
                  <a:srgbClr val="0F172A"/>
                </a:solidFill>
                <a:latin typeface="Inter"/>
              </a:rPr>
              <a:t>- </a:t>
            </a:r>
            <a:r>
              <a:rPr lang="en-IN" dirty="0"/>
              <a:t>CB.SC.U4CSE25652</a:t>
            </a:r>
            <a:br>
              <a:rPr lang="en-US" sz="1600" b="0" i="0" u="none" dirty="0">
                <a:solidFill>
                  <a:srgbClr val="0F172A"/>
                </a:solidFill>
                <a:latin typeface="Inter"/>
              </a:rPr>
            </a:br>
            <a:r>
              <a:rPr lang="en-US" b="0" i="0" u="none" dirty="0">
                <a:solidFill>
                  <a:srgbClr val="0F172A"/>
                </a:solidFill>
                <a:latin typeface="Inter"/>
              </a:rPr>
              <a:t>Harish Karthic U- </a:t>
            </a:r>
            <a:r>
              <a:rPr lang="en-IN" dirty="0"/>
              <a:t>CB.SC.U4CSE25659</a:t>
            </a:r>
            <a:endParaRPr lang="en-US" sz="1600" b="0" i="0" u="none" dirty="0">
              <a:solidFill>
                <a:srgbClr val="0F172A"/>
              </a:solidFill>
              <a:latin typeface="Inter"/>
            </a:endParaRPr>
          </a:p>
          <a:p>
            <a:pPr algn="l"/>
            <a:endParaRPr sz="1600" b="0" i="0" u="none" dirty="0">
              <a:solidFill>
                <a:srgbClr val="0F172A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609600" y="4876800"/>
            <a:ext cx="10972800" cy="137160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ounded Rectangle 3"/>
          <p:cNvSpPr/>
          <p:nvPr/>
        </p:nvSpPr>
        <p:spPr>
          <a:xfrm>
            <a:off x="609600" y="1581150"/>
            <a:ext cx="3505200" cy="1318021"/>
          </a:xfrm>
          <a:prstGeom prst="roundRect">
            <a:avLst>
              <a:gd name="adj" fmla="val 57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4343400" y="1581150"/>
            <a:ext cx="3505200" cy="1318021"/>
          </a:xfrm>
          <a:prstGeom prst="roundRect">
            <a:avLst>
              <a:gd name="adj" fmla="val 57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ounded Rectangle 5"/>
          <p:cNvSpPr/>
          <p:nvPr/>
        </p:nvSpPr>
        <p:spPr>
          <a:xfrm>
            <a:off x="8077200" y="1581150"/>
            <a:ext cx="3505200" cy="1318021"/>
          </a:xfrm>
          <a:prstGeom prst="roundRect">
            <a:avLst>
              <a:gd name="adj" fmla="val 57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ounded Rectangle 6"/>
          <p:cNvSpPr/>
          <p:nvPr/>
        </p:nvSpPr>
        <p:spPr>
          <a:xfrm>
            <a:off x="609600" y="3127771"/>
            <a:ext cx="5372100" cy="1078110"/>
          </a:xfrm>
          <a:prstGeom prst="roundRect">
            <a:avLst>
              <a:gd name="adj" fmla="val 70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ounded Rectangle 7"/>
          <p:cNvSpPr/>
          <p:nvPr/>
        </p:nvSpPr>
        <p:spPr>
          <a:xfrm>
            <a:off x="6210300" y="3127771"/>
            <a:ext cx="5372100" cy="1078110"/>
          </a:xfrm>
          <a:prstGeom prst="roundRect">
            <a:avLst>
              <a:gd name="adj" fmla="val 70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609600" y="4876800"/>
            <a:ext cx="38100" cy="1371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609600" y="609600"/>
            <a:ext cx="11582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u="none">
                <a:solidFill>
                  <a:srgbClr val="1E293B"/>
                </a:solidFill>
                <a:latin typeface="Inter"/>
              </a:rPr>
              <a:t>1 Why Monitor a Textile Spinning Machine?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5105400"/>
            <a:ext cx="10572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i="0" u="none">
                <a:solidFill>
                  <a:srgbClr val="0F172A"/>
                </a:solidFill>
                <a:latin typeface="Inter"/>
              </a:rPr>
              <a:t>Textile spinning machines operate continuously.</a:t>
            </a:r>
            <a:r>
              <a:rPr sz="2400"/>
              <a:t>
</a:t>
            </a:r>
            <a:r>
              <a:rPr b="0" i="0" u="none">
                <a:solidFill>
                  <a:srgbClr val="0F172A"/>
                </a:solidFill>
                <a:latin typeface="Inter"/>
              </a:rPr>
              <a:t> Rotating spindle assemblies are continuously involved in operation.</a:t>
            </a:r>
            <a:r>
              <a:rPr sz="2400"/>
              <a:t>
</a:t>
            </a:r>
            <a:r>
              <a:rPr b="0" i="0" u="none">
                <a:solidFill>
                  <a:srgbClr val="0F172A"/>
                </a:solidFill>
                <a:latin typeface="Inter"/>
              </a:rPr>
              <a:t> Continuous operation requires continuous condition monitoring.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1819275"/>
            <a:ext cx="136473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2563EB"/>
                </a:solidFill>
                <a:latin typeface="Inter"/>
              </a:rPr>
              <a:t>Temperature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181225"/>
            <a:ext cx="31242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Abnormal temperature can indicate an operating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1819275"/>
            <a:ext cx="98905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2563EB"/>
                </a:solidFill>
                <a:latin typeface="Inter"/>
              </a:rPr>
              <a:t>Vibration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2181225"/>
            <a:ext cx="31242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Abnormal vibration can indicate a condition requiring inspection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1819275"/>
            <a:ext cx="96193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2563EB"/>
                </a:solidFill>
                <a:latin typeface="Inter"/>
              </a:rPr>
              <a:t>Electrical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2181225"/>
            <a:ext cx="31242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Electrical variations can indicate abnormal operation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365896"/>
            <a:ext cx="47141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2563EB"/>
                </a:solidFill>
                <a:latin typeface="Inter"/>
              </a:rPr>
              <a:t>Yarn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727846"/>
            <a:ext cx="3588483" cy="2436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Yarn-break events can interrupt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3365896"/>
            <a:ext cx="86113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2563EB"/>
                </a:solidFill>
                <a:latin typeface="Inter"/>
              </a:rPr>
              <a:t>Package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3727846"/>
            <a:ext cx="3727111" cy="2436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Package-low events can interrupt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ounded Rectangle 2"/>
          <p:cNvSpPr/>
          <p:nvPr/>
        </p:nvSpPr>
        <p:spPr>
          <a:xfrm>
            <a:off x="609600" y="4962525"/>
            <a:ext cx="10972800" cy="1924050"/>
          </a:xfrm>
          <a:prstGeom prst="roundRect">
            <a:avLst>
              <a:gd name="adj" fmla="val 39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609600" y="1581150"/>
            <a:ext cx="57150" cy="1200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609600" y="3238500"/>
            <a:ext cx="3454449" cy="1266825"/>
          </a:xfrm>
          <a:prstGeom prst="roundRect">
            <a:avLst>
              <a:gd name="adj" fmla="val 6015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ounded Rectangle 5"/>
          <p:cNvSpPr/>
          <p:nvPr/>
        </p:nvSpPr>
        <p:spPr>
          <a:xfrm>
            <a:off x="4368849" y="3238500"/>
            <a:ext cx="3454449" cy="1266825"/>
          </a:xfrm>
          <a:prstGeom prst="roundRect">
            <a:avLst>
              <a:gd name="adj" fmla="val 6015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ounded Rectangle 6"/>
          <p:cNvSpPr/>
          <p:nvPr/>
        </p:nvSpPr>
        <p:spPr>
          <a:xfrm>
            <a:off x="8128099" y="3238500"/>
            <a:ext cx="3454449" cy="1266825"/>
          </a:xfrm>
          <a:prstGeom prst="roundRect">
            <a:avLst>
              <a:gd name="adj" fmla="val 6015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5672137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6015037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6357937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u="none">
                <a:solidFill>
                  <a:srgbClr val="1E293B"/>
                </a:solidFill>
                <a:latin typeface="Inter"/>
              </a:rPr>
              <a:t>2 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581150"/>
            <a:ext cx="1083945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400" b="0" i="1" u="none" dirty="0">
                <a:solidFill>
                  <a:srgbClr val="1E293B"/>
                </a:solidFill>
                <a:latin typeface="Inter"/>
              </a:rPr>
              <a:t>“Abnormal machine conditions and production interruptions need to be identified, prioritized and recorded systematically to support timely inspection and reduce untracked downtime.”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5276850"/>
            <a:ext cx="216758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Inter"/>
              </a:rPr>
              <a:t>EXISTING CHALLENGES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476625"/>
            <a:ext cx="147207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563EB"/>
                </a:solidFill>
                <a:latin typeface="Inter"/>
              </a:rPr>
              <a:t>1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867150"/>
            <a:ext cx="3073449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Inter"/>
              </a:rPr>
              <a:t>Identify abnormal machine conditions.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6974" y="3476625"/>
            <a:ext cx="188474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563EB"/>
                </a:solidFill>
                <a:latin typeface="Inter"/>
              </a:rPr>
              <a:t>2 Prioritization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6974" y="3867150"/>
            <a:ext cx="3073449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Inter"/>
              </a:rPr>
              <a:t>Determine which fault requires attention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224" y="3476625"/>
            <a:ext cx="127752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563EB"/>
                </a:solidFill>
                <a:latin typeface="Inter"/>
              </a:rPr>
              <a:t>3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224" y="3867150"/>
            <a:ext cx="3073449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Inter"/>
              </a:rPr>
              <a:t>Maintain recent readings and event information.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5657850"/>
            <a:ext cx="4020075" cy="276999"/>
          </a:xfrm>
          <a:prstGeom prst="rect">
            <a:avLst/>
          </a:prstGeom>
          <a:noFill/>
        </p:spPr>
        <p:txBody>
          <a:bodyPr wrap="none" lIns="30480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0F172A"/>
                </a:solidFill>
                <a:latin typeface="Inter"/>
              </a:rPr>
              <a:t>Faults may require manual observation.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6000750"/>
            <a:ext cx="4889672" cy="276999"/>
          </a:xfrm>
          <a:prstGeom prst="rect">
            <a:avLst/>
          </a:prstGeom>
          <a:noFill/>
        </p:spPr>
        <p:txBody>
          <a:bodyPr wrap="none" lIns="30480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0F172A"/>
                </a:solidFill>
                <a:latin typeface="Inter"/>
              </a:rPr>
              <a:t>Multiple notifications may not be equally urgent.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6343650"/>
            <a:ext cx="4941289" cy="276999"/>
          </a:xfrm>
          <a:prstGeom prst="rect">
            <a:avLst/>
          </a:prstGeom>
          <a:noFill/>
        </p:spPr>
        <p:txBody>
          <a:bodyPr wrap="none" lIns="30480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0F172A"/>
                </a:solidFill>
                <a:latin typeface="Inter"/>
              </a:rPr>
              <a:t>Event history can be difficult to track consistently.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81150"/>
            <a:ext cx="10972800" cy="1123950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4469010" y="1819275"/>
            <a:ext cx="1190625" cy="6477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609600" y="3162300"/>
            <a:ext cx="38100" cy="2762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890" y="2066925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120" y="2066925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176" y="2066925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806" y="2066925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337" y="2066925"/>
            <a:ext cx="1333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>
                <a:solidFill>
                  <a:srgbClr val="1E293B"/>
                </a:solidFill>
                <a:latin typeface="Inter"/>
              </a:rPr>
              <a:t>3 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1952625"/>
            <a:ext cx="1095375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F172A"/>
                </a:solidFill>
                <a:latin typeface="Inter"/>
              </a:rPr>
              <a:t>Machine</a:t>
            </a:r>
            <a:r>
              <a:rPr sz="2000"/>
              <a:t>
</a:t>
            </a:r>
            <a:r>
              <a:rPr sz="1400" b="1" i="0" u="none">
                <a:solidFill>
                  <a:srgbClr val="0F172A"/>
                </a:solidFill>
                <a:latin typeface="Inter"/>
              </a:rPr>
              <a:t> 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905" y="1952625"/>
            <a:ext cx="135255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F172A"/>
                </a:solidFill>
                <a:latin typeface="Inter"/>
              </a:rPr>
              <a:t>Sensor / Event</a:t>
            </a:r>
            <a:r>
              <a:rPr sz="2000"/>
              <a:t>
</a:t>
            </a:r>
            <a:r>
              <a:rPr sz="1400" b="1" i="0" u="none">
                <a:solidFill>
                  <a:srgbClr val="0F172A"/>
                </a:solidFill>
                <a:latin typeface="Inter"/>
              </a:rPr>
              <a:t>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482" y="1933575"/>
            <a:ext cx="1259681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2563EB"/>
                </a:solidFill>
                <a:latin typeface="Inter"/>
              </a:rPr>
              <a:t>Arduino</a:t>
            </a:r>
            <a:r>
              <a:rPr sz="2000"/>
              <a:t>
</a:t>
            </a:r>
            <a:r>
              <a:rPr sz="1400" b="1" i="0" u="none">
                <a:solidFill>
                  <a:srgbClr val="2563EB"/>
                </a:solidFill>
                <a:latin typeface="Inter"/>
              </a:rPr>
              <a:t> Mega 2560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9191" y="1952625"/>
            <a:ext cx="112395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F172A"/>
                </a:solidFill>
                <a:latin typeface="Inter"/>
              </a:rPr>
              <a:t>Rule-Based</a:t>
            </a:r>
            <a:r>
              <a:rPr sz="2000"/>
              <a:t>
</a:t>
            </a:r>
            <a:r>
              <a:rPr sz="1400" b="1" i="0" u="none">
                <a:solidFill>
                  <a:srgbClr val="0F172A"/>
                </a:solidFill>
                <a:latin typeface="Inter"/>
              </a:rPr>
              <a:t>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5059" y="1952625"/>
            <a:ext cx="1476375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F172A"/>
                </a:solidFill>
                <a:latin typeface="Inter"/>
              </a:rPr>
              <a:t>Circular Buffer</a:t>
            </a:r>
            <a:r>
              <a:rPr sz="2000"/>
              <a:t>
</a:t>
            </a:r>
            <a:r>
              <a:rPr sz="1400" b="1" i="0" u="none">
                <a:solidFill>
                  <a:srgbClr val="0F172A"/>
                </a:solidFill>
                <a:latin typeface="Inter"/>
              </a:rPr>
              <a:t> + Priority 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53352" y="1952625"/>
            <a:ext cx="13335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F172A"/>
                </a:solidFill>
                <a:latin typeface="Inter"/>
              </a:rPr>
              <a:t>Machine State</a:t>
            </a:r>
            <a:r>
              <a:rPr sz="2000"/>
              <a:t>
</a:t>
            </a:r>
            <a:r>
              <a:rPr sz="1400" b="1" i="0" u="none">
                <a:solidFill>
                  <a:srgbClr val="0F172A"/>
                </a:solidFill>
                <a:latin typeface="Inter"/>
              </a:rPr>
              <a:t> &amp;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3162300"/>
            <a:ext cx="172502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Inter"/>
              </a:rPr>
              <a:t>THE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104929"/>
            <a:ext cx="591982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1" u="none">
                <a:solidFill>
                  <a:srgbClr val="64748B"/>
                </a:solidFill>
                <a:latin typeface="Inter"/>
              </a:rPr>
              <a:t>An educational prototype — not a complete industrial control system.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3668077"/>
            <a:ext cx="1154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667125"/>
            <a:ext cx="3753207" cy="310983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i="0" u="none">
                <a:solidFill>
                  <a:srgbClr val="334155"/>
                </a:solidFill>
                <a:latin typeface="Inter"/>
              </a:rPr>
              <a:t>Monitors selected machine conditions.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4117538"/>
            <a:ext cx="1154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4116585"/>
            <a:ext cx="3931461" cy="310983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i="0" u="none">
                <a:solidFill>
                  <a:srgbClr val="334155"/>
                </a:solidFill>
                <a:latin typeface="Inter"/>
              </a:rPr>
              <a:t>Detects configured abnormal conditions.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4566999"/>
            <a:ext cx="1154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4566046"/>
            <a:ext cx="3635419" cy="310983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i="0" u="none">
                <a:solidFill>
                  <a:srgbClr val="334155"/>
                </a:solidFill>
                <a:latin typeface="Inter"/>
              </a:rPr>
              <a:t>Prioritizes selected fault notifications.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5016460"/>
            <a:ext cx="1154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5015507"/>
            <a:ext cx="3386312" cy="310983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i="0" u="none">
                <a:solidFill>
                  <a:srgbClr val="334155"/>
                </a:solidFill>
                <a:latin typeface="Inter"/>
              </a:rPr>
              <a:t>Displays operating state and alerts.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900" y="5465921"/>
            <a:ext cx="1154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5464968"/>
            <a:ext cx="5371342" cy="310983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i="0" u="none">
                <a:solidFill>
                  <a:srgbClr val="334155"/>
                </a:solidFill>
                <a:latin typeface="Inter"/>
              </a:rPr>
              <a:t>Maintains recent readings and supported event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ounded Rectangle 2"/>
          <p:cNvSpPr/>
          <p:nvPr/>
        </p:nvSpPr>
        <p:spPr>
          <a:xfrm>
            <a:off x="609600" y="4152900"/>
            <a:ext cx="5257800" cy="3209925"/>
          </a:xfrm>
          <a:prstGeom prst="roundRect">
            <a:avLst>
              <a:gd name="adj" fmla="val 237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6324600" y="4152900"/>
            <a:ext cx="5257800" cy="3209925"/>
          </a:xfrm>
          <a:prstGeom prst="roundRect">
            <a:avLst>
              <a:gd name="adj" fmla="val 237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410075"/>
            <a:ext cx="180975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4410075"/>
            <a:ext cx="152400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>
                <a:solidFill>
                  <a:srgbClr val="1E293B"/>
                </a:solidFill>
                <a:latin typeface="Inter"/>
              </a:rPr>
              <a:t>4 Project Objectives &amp;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581150"/>
            <a:ext cx="100110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64748B"/>
                </a:solidFill>
                <a:latin typeface="Inter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1962150"/>
            <a:ext cx="10259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962150"/>
            <a:ext cx="5716180" cy="275332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Monitor selected temperature, acceleration and electrical readings.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2324100"/>
            <a:ext cx="10259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324100"/>
            <a:ext cx="3410164" cy="275332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Detect configured abnormal conditions.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2686050"/>
            <a:ext cx="10259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86050"/>
            <a:ext cx="3151440" cy="275332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Prioritize selected fault notifications.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3048000"/>
            <a:ext cx="10259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048000"/>
            <a:ext cx="2929072" cy="275332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Display operating state and alerts.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425" y="3409950"/>
            <a:ext cx="10259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409950"/>
            <a:ext cx="4686732" cy="275332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Maintain recent readings and supported event records.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76351"/>
            <a:ext cx="88639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1" i="0" u="none">
                <a:solidFill>
                  <a:srgbClr val="166534"/>
                </a:solidFill>
                <a:latin typeface="Inter"/>
              </a:rPr>
              <a:t>IN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9425" y="4376351"/>
            <a:ext cx="140737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1" i="0" u="none">
                <a:solidFill>
                  <a:srgbClr val="991B1B"/>
                </a:solidFill>
                <a:latin typeface="Inter"/>
              </a:rPr>
              <a:t>OUT OF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075" y="4791075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6325" y="4791075"/>
            <a:ext cx="1940596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14532D"/>
                </a:solidFill>
                <a:latin typeface="Inter"/>
              </a:rPr>
              <a:t>Arduino-based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075" y="5124450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325" y="5124450"/>
            <a:ext cx="1575111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14532D"/>
                </a:solidFill>
                <a:latin typeface="Inter"/>
              </a:rPr>
              <a:t>Wokwi 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075" y="5457825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6325" y="5457825"/>
            <a:ext cx="2956835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14532D"/>
                </a:solidFill>
                <a:latin typeface="Inter"/>
              </a:rPr>
              <a:t>Five software-modeled spindle stations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075" y="5791200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6325" y="5791200"/>
            <a:ext cx="1649811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14532D"/>
                </a:solidFill>
                <a:latin typeface="Inter"/>
              </a:rPr>
              <a:t>Rule-based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075" y="6124575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325" y="6124575"/>
            <a:ext cx="1853008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14532D"/>
                </a:solidFill>
                <a:latin typeface="Inter"/>
              </a:rPr>
              <a:t>Local displays and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075" y="6457950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6325" y="6457950"/>
            <a:ext cx="1142108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14532D"/>
                </a:solidFill>
                <a:latin typeface="Inter"/>
              </a:rPr>
              <a:t>Circular Buffer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075" y="6791325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6325" y="6791325"/>
            <a:ext cx="1163780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14532D"/>
                </a:solidFill>
                <a:latin typeface="Inter"/>
              </a:rPr>
              <a:t>Priority Queue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6075" y="4791075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1325" y="4791075"/>
            <a:ext cx="2885470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7F1D1D"/>
                </a:solidFill>
                <a:latin typeface="Inter"/>
              </a:rPr>
              <a:t>Validated machine-learning prediction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6075" y="5124450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1325" y="5124450"/>
            <a:ext cx="3622530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7F1D1D"/>
                </a:solidFill>
                <a:latin typeface="Inter"/>
              </a:rPr>
              <a:t>Independent physical sensing for all five stations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6075" y="5457825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91325" y="5457825"/>
            <a:ext cx="3275127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7F1D1D"/>
                </a:solidFill>
                <a:latin typeface="Inter"/>
              </a:rPr>
              <a:t>Guaranteed automatic industrial protection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6075" y="5791200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1325" y="5791200"/>
            <a:ext cx="2377446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7F1D1D"/>
                </a:solidFill>
                <a:latin typeface="Inter"/>
              </a:rPr>
              <a:t>Certified industrial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ounded Rectangle 2"/>
          <p:cNvSpPr/>
          <p:nvPr/>
        </p:nvSpPr>
        <p:spPr>
          <a:xfrm>
            <a:off x="609600" y="1581150"/>
            <a:ext cx="2571750" cy="4777382"/>
          </a:xfrm>
          <a:prstGeom prst="roundRect">
            <a:avLst>
              <a:gd name="adj" fmla="val 29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3409950" y="1581150"/>
            <a:ext cx="2571750" cy="4777382"/>
          </a:xfrm>
          <a:prstGeom prst="roundRect">
            <a:avLst>
              <a:gd name="adj" fmla="val 296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6210300" y="1581150"/>
            <a:ext cx="2571750" cy="4777382"/>
          </a:xfrm>
          <a:prstGeom prst="roundRect">
            <a:avLst>
              <a:gd name="adj" fmla="val 29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9010650" y="1581150"/>
            <a:ext cx="2571750" cy="4777382"/>
          </a:xfrm>
          <a:prstGeom prst="roundRect">
            <a:avLst>
              <a:gd name="adj" fmla="val 29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847725" y="2124075"/>
            <a:ext cx="20955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3648075" y="2124075"/>
            <a:ext cx="2095500" cy="1905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6448425" y="2352675"/>
            <a:ext cx="20955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9248775" y="2124075"/>
            <a:ext cx="20955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09600" y="609600"/>
            <a:ext cx="11582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>
                <a:solidFill>
                  <a:srgbClr val="1E293B"/>
                </a:solidFill>
                <a:latin typeface="Inter"/>
              </a:rPr>
              <a:t>5 System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1819275"/>
            <a:ext cx="2300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Inter"/>
              </a:rP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075" y="1819275"/>
            <a:ext cx="2300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1E40AF"/>
                </a:solidFill>
                <a:latin typeface="Inter"/>
              </a:rPr>
              <a:t>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075" y="2295525"/>
            <a:ext cx="187833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1E3A8A"/>
                </a:solidFill>
                <a:latin typeface="Inter"/>
              </a:rPr>
              <a:t>Arduino Mega 2560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1819275"/>
            <a:ext cx="230028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Inter"/>
              </a:rPr>
              <a:t>SOFTWARE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8775" y="1819275"/>
            <a:ext cx="2300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Inter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" y="2294572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325" y="2295525"/>
            <a:ext cx="196215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DS18B20 Temperature Sensor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75" y="2919352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6325" y="2920305"/>
            <a:ext cx="1962150" cy="25898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MPU6050 Accelerometer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075" y="354413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6325" y="3545085"/>
            <a:ext cx="1962150" cy="54111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INA219 Voltage/Current 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075" y="4443204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6325" y="4444156"/>
            <a:ext cx="1213474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Rotary Encoder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075" y="4793694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6325" y="4794646"/>
            <a:ext cx="1425903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Yarn-Break Button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075" y="5144184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6325" y="5145137"/>
            <a:ext cx="1576778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Package-Low Button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075" y="5494674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6325" y="5495627"/>
            <a:ext cx="196215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Alarm Acknowledge Button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1775" y="2523172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7025" y="2524125"/>
            <a:ext cx="1322478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Input acquisition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1775" y="2873662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7025" y="2874615"/>
            <a:ext cx="1064972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Data updates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1775" y="3224152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7025" y="3225105"/>
            <a:ext cx="1350498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Threshold checks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1775" y="357464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7025" y="3575595"/>
            <a:ext cx="1142108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Circular Buffer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1775" y="392513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7025" y="3926085"/>
            <a:ext cx="1649811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Rule-based detection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1775" y="427562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7025" y="4276576"/>
            <a:ext cx="1163780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Priority Queue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1775" y="462611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7025" y="4627066"/>
            <a:ext cx="1962150" cy="25898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Machine-state tracking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1775" y="5250894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7025" y="5251846"/>
            <a:ext cx="1369157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Statistics updates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82125" y="2294572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7375" y="2295525"/>
            <a:ext cx="1168590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SSD1306 OLED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82125" y="2645062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77375" y="2646015"/>
            <a:ext cx="1141210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Serial Monitor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82125" y="2995552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77375" y="2996505"/>
            <a:ext cx="858440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Green LED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82125" y="334604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77375" y="3346995"/>
            <a:ext cx="880882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Yellow LED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82125" y="369653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77375" y="3697485"/>
            <a:ext cx="689356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Red LED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82125" y="404702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77375" y="4047976"/>
            <a:ext cx="577850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Buzzer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82125" y="439751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77375" y="4398466"/>
            <a:ext cx="1374928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Optional microSD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675228"/>
              </p:ext>
            </p:extLst>
          </p:nvPr>
        </p:nvGraphicFramePr>
        <p:xfrm>
          <a:off x="609600" y="1581150"/>
          <a:ext cx="10972799" cy="4629150"/>
        </p:xfrm>
        <a:graphic>
          <a:graphicData uri="http://schemas.openxmlformats.org/drawingml/2006/table">
            <a:tbl>
              <a:tblPr/>
              <a:tblGrid>
                <a:gridCol w="2556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4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1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0F172A"/>
                          </a:solidFill>
                          <a:latin typeface="Inter"/>
                        </a:rPr>
                        <a:t>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0F172A"/>
                          </a:solidFill>
                          <a:latin typeface="Inter"/>
                        </a:rPr>
                        <a:t>Function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0F172A"/>
                          </a:solidFill>
                          <a:latin typeface="Inter"/>
                        </a:rPr>
                        <a:t>Project Use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2563EB"/>
                          </a:solidFill>
                          <a:latin typeface="Inter"/>
                        </a:rPr>
                        <a:t>Arduino Mega 2560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Main controller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Coordinates acquisition, logic and outputs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2563EB"/>
                          </a:solidFill>
                          <a:latin typeface="Inter"/>
                        </a:rPr>
                        <a:t>MPU6050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Accelerometer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Provides acceleration data as vibration indicator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2563EB"/>
                          </a:solidFill>
                          <a:latin typeface="Inter"/>
                        </a:rPr>
                        <a:t>INA219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Power monitor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Measures voltage and current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2563EB"/>
                          </a:solidFill>
                          <a:latin typeface="Inter"/>
                        </a:rPr>
                        <a:t>DS18B20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Temperature sensor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Measures operational temperature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2563EB"/>
                          </a:solidFill>
                          <a:latin typeface="Inter"/>
                        </a:rPr>
                        <a:t>Rotary Encoder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Input device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Adjusts target value and navigation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2563EB"/>
                          </a:solidFill>
                          <a:latin typeface="Inter"/>
                        </a:rPr>
                        <a:t>SSD1306 OLED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Display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Machine-status interface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2563EB"/>
                          </a:solidFill>
                          <a:latin typeface="Inter"/>
                        </a:rPr>
                        <a:t>LEDs &amp; Buzzer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Indicators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Visual and audible alerts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2563EB"/>
                          </a:solidFill>
                          <a:latin typeface="Inter"/>
                        </a:rPr>
                        <a:t>Push Buttons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Simulated inputs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Yarn-break, package-low, alarm acknowledgement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609600"/>
            <a:ext cx="11582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Inter"/>
              </a:rPr>
              <a:t>6 Hardware Components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609600" y="6210300"/>
            <a:ext cx="109728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4787949" y="1581150"/>
            <a:ext cx="6794450" cy="57150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609600" y="1581150"/>
            <a:ext cx="3397299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609600" y="2571750"/>
            <a:ext cx="3397299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ounded Rectangle 6"/>
          <p:cNvSpPr/>
          <p:nvPr/>
        </p:nvSpPr>
        <p:spPr>
          <a:xfrm>
            <a:off x="609600" y="3562350"/>
            <a:ext cx="3397299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609600" y="4552950"/>
            <a:ext cx="3397299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609600" y="2143125"/>
            <a:ext cx="33972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609600" y="3133725"/>
            <a:ext cx="33972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609600" y="4124325"/>
            <a:ext cx="33972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Rectangle 11"/>
          <p:cNvSpPr/>
          <p:nvPr/>
        </p:nvSpPr>
        <p:spPr>
          <a:xfrm>
            <a:off x="609600" y="5114925"/>
            <a:ext cx="33972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ounded Rectangle 12"/>
          <p:cNvSpPr/>
          <p:nvPr/>
        </p:nvSpPr>
        <p:spPr>
          <a:xfrm>
            <a:off x="4787949" y="2762250"/>
            <a:ext cx="3244899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ounded Rectangle 13"/>
          <p:cNvSpPr/>
          <p:nvPr/>
        </p:nvSpPr>
        <p:spPr>
          <a:xfrm>
            <a:off x="8337649" y="2762250"/>
            <a:ext cx="3244899" cy="447675"/>
          </a:xfrm>
          <a:prstGeom prst="roundRect">
            <a:avLst>
              <a:gd name="adj" fmla="val 851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ounded Rectangle 14"/>
          <p:cNvSpPr/>
          <p:nvPr/>
        </p:nvSpPr>
        <p:spPr>
          <a:xfrm>
            <a:off x="8337649" y="3286125"/>
            <a:ext cx="3244899" cy="447675"/>
          </a:xfrm>
          <a:prstGeom prst="roundRect">
            <a:avLst>
              <a:gd name="adj" fmla="val 851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ounded Rectangle 15"/>
          <p:cNvSpPr/>
          <p:nvPr/>
        </p:nvSpPr>
        <p:spPr>
          <a:xfrm>
            <a:off x="8337649" y="3810000"/>
            <a:ext cx="3244899" cy="447675"/>
          </a:xfrm>
          <a:prstGeom prst="roundRect">
            <a:avLst>
              <a:gd name="adj" fmla="val 851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ounded Rectangle 16"/>
          <p:cNvSpPr/>
          <p:nvPr/>
        </p:nvSpPr>
        <p:spPr>
          <a:xfrm>
            <a:off x="8337649" y="4333875"/>
            <a:ext cx="3244899" cy="447675"/>
          </a:xfrm>
          <a:prstGeom prst="roundRect">
            <a:avLst>
              <a:gd name="adj" fmla="val 851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ounded Rectangle 17"/>
          <p:cNvSpPr/>
          <p:nvPr/>
        </p:nvSpPr>
        <p:spPr>
          <a:xfrm>
            <a:off x="8337649" y="4857750"/>
            <a:ext cx="3244899" cy="447675"/>
          </a:xfrm>
          <a:prstGeom prst="roundRect">
            <a:avLst>
              <a:gd name="adj" fmla="val 851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Rounded Rectangle 18"/>
          <p:cNvSpPr/>
          <p:nvPr/>
        </p:nvSpPr>
        <p:spPr>
          <a:xfrm>
            <a:off x="8337649" y="5381625"/>
            <a:ext cx="3244899" cy="447675"/>
          </a:xfrm>
          <a:prstGeom prst="roundRect">
            <a:avLst>
              <a:gd name="adj" fmla="val 851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Rectangle 19"/>
          <p:cNvSpPr/>
          <p:nvPr/>
        </p:nvSpPr>
        <p:spPr>
          <a:xfrm>
            <a:off x="8337649" y="3200400"/>
            <a:ext cx="3244899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Rectangle 20"/>
          <p:cNvSpPr/>
          <p:nvPr/>
        </p:nvSpPr>
        <p:spPr>
          <a:xfrm>
            <a:off x="8337649" y="3724275"/>
            <a:ext cx="3244899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Rectangle 21"/>
          <p:cNvSpPr/>
          <p:nvPr/>
        </p:nvSpPr>
        <p:spPr>
          <a:xfrm>
            <a:off x="8337649" y="4248150"/>
            <a:ext cx="3244899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Rectangle 22"/>
          <p:cNvSpPr/>
          <p:nvPr/>
        </p:nvSpPr>
        <p:spPr>
          <a:xfrm>
            <a:off x="8337649" y="4772025"/>
            <a:ext cx="3244899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Rectangle 23"/>
          <p:cNvSpPr/>
          <p:nvPr/>
        </p:nvSpPr>
        <p:spPr>
          <a:xfrm>
            <a:off x="8337649" y="5295900"/>
            <a:ext cx="3244899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Rectangle 24"/>
          <p:cNvSpPr/>
          <p:nvPr/>
        </p:nvSpPr>
        <p:spPr>
          <a:xfrm>
            <a:off x="8337649" y="5819775"/>
            <a:ext cx="3244899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637" y="6391275"/>
            <a:ext cx="19050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025" y="2286000"/>
            <a:ext cx="11430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025" y="3276600"/>
            <a:ext cx="11430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025" y="4267200"/>
            <a:ext cx="114300" cy="152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09600" y="609600"/>
            <a:ext cx="11582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>
                <a:solidFill>
                  <a:srgbClr val="1E293B"/>
                </a:solidFill>
                <a:latin typeface="Inter"/>
              </a:rPr>
              <a:t>7 How the System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381000" y="6362700"/>
            <a:ext cx="12954000" cy="246221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ctr"/>
            <a:r>
              <a:rPr sz="1600" b="0" i="1" u="none">
                <a:solidFill>
                  <a:srgbClr val="64748B"/>
                </a:solidFill>
                <a:latin typeface="Inter"/>
              </a:rPr>
              <a:t> After the history update, the cycle returns to Start Monitoring Cycle.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40349" y="1733550"/>
            <a:ext cx="65849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284C7"/>
                </a:solidFill>
                <a:latin typeface="Inter"/>
              </a:rPr>
              <a:t>Abnormal Condition?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7337" y="1733550"/>
            <a:ext cx="39418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>
                <a:solidFill>
                  <a:srgbClr val="0F172A"/>
                </a:solidFill>
                <a:latin typeface="Inter"/>
              </a:rPr>
              <a:t>Start Monitoring Cycle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7337" y="2724150"/>
            <a:ext cx="39418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>
                <a:solidFill>
                  <a:srgbClr val="0F172A"/>
                </a:solidFill>
                <a:latin typeface="Inter"/>
              </a:rPr>
              <a:t>Acquire Sensor Readings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337" y="3714750"/>
            <a:ext cx="39418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>
                <a:solidFill>
                  <a:srgbClr val="0F172A"/>
                </a:solidFill>
                <a:latin typeface="Inter"/>
              </a:rPr>
              <a:t>Update Circular Buffer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7337" y="4705350"/>
            <a:ext cx="39418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>
                <a:solidFill>
                  <a:srgbClr val="0F172A"/>
                </a:solidFill>
                <a:latin typeface="Inter"/>
              </a:rPr>
              <a:t>Evaluate Rules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7949" y="2381250"/>
            <a:ext cx="27411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475569"/>
                </a:solidFill>
                <a:latin typeface="Inter"/>
              </a:rP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40349" y="2914650"/>
            <a:ext cx="303534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Continue Monitoring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7649" y="2381250"/>
            <a:ext cx="30258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B91C1C"/>
                </a:solidFill>
                <a:latin typeface="Inter"/>
              </a:rPr>
              <a:t>YES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1949" y="2876550"/>
            <a:ext cx="311154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Create Fault Event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1949" y="3400425"/>
            <a:ext cx="311154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Insert into Priority Queue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1949" y="3924300"/>
            <a:ext cx="311154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Process Highest Priority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1949" y="4448175"/>
            <a:ext cx="311154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Update Machine State &amp; Alarms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1949" y="4972050"/>
            <a:ext cx="311154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Refresh OLED / Serial Monitor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1949" y="5495925"/>
            <a:ext cx="311154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Update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ounded Rectangle 2"/>
          <p:cNvSpPr/>
          <p:nvPr/>
        </p:nvSpPr>
        <p:spPr>
          <a:xfrm>
            <a:off x="609600" y="5724525"/>
            <a:ext cx="109728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609600" y="1581150"/>
            <a:ext cx="3505200" cy="3762375"/>
          </a:xfrm>
          <a:prstGeom prst="roundRect">
            <a:avLst>
              <a:gd name="adj" fmla="val 2173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4343400" y="1581150"/>
            <a:ext cx="3505200" cy="3762375"/>
          </a:xfrm>
          <a:prstGeom prst="roundRect">
            <a:avLst>
              <a:gd name="adj" fmla="val 2173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8077200" y="1581150"/>
            <a:ext cx="3505200" cy="3762375"/>
          </a:xfrm>
          <a:prstGeom prst="roundRect">
            <a:avLst>
              <a:gd name="adj" fmla="val 217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609600" y="5334000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609600" y="1581150"/>
            <a:ext cx="3505200" cy="571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609600" y="1581150"/>
            <a:ext cx="9525" cy="3762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4105275" y="1581150"/>
            <a:ext cx="9525" cy="3762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ounded Rectangle 10"/>
          <p:cNvSpPr/>
          <p:nvPr/>
        </p:nvSpPr>
        <p:spPr>
          <a:xfrm>
            <a:off x="923925" y="3181350"/>
            <a:ext cx="1800225" cy="447675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Rectangle 11"/>
          <p:cNvSpPr/>
          <p:nvPr/>
        </p:nvSpPr>
        <p:spPr>
          <a:xfrm>
            <a:off x="4343400" y="5334000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/>
          <p:cNvSpPr/>
          <p:nvPr/>
        </p:nvSpPr>
        <p:spPr>
          <a:xfrm>
            <a:off x="4343400" y="1581150"/>
            <a:ext cx="3505200" cy="571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4343400" y="1581150"/>
            <a:ext cx="9525" cy="3762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7839075" y="1581150"/>
            <a:ext cx="9525" cy="3762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ounded Rectangle 15"/>
          <p:cNvSpPr/>
          <p:nvPr/>
        </p:nvSpPr>
        <p:spPr>
          <a:xfrm>
            <a:off x="4657725" y="3848100"/>
            <a:ext cx="1838325" cy="447675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8077200" y="5334000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17"/>
          <p:cNvSpPr/>
          <p:nvPr/>
        </p:nvSpPr>
        <p:spPr>
          <a:xfrm>
            <a:off x="8077200" y="1581150"/>
            <a:ext cx="3505200" cy="571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Rectangle 18"/>
          <p:cNvSpPr/>
          <p:nvPr/>
        </p:nvSpPr>
        <p:spPr>
          <a:xfrm>
            <a:off x="8077200" y="1581150"/>
            <a:ext cx="9525" cy="3762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Rectangle 19"/>
          <p:cNvSpPr/>
          <p:nvPr/>
        </p:nvSpPr>
        <p:spPr>
          <a:xfrm>
            <a:off x="11572875" y="1581150"/>
            <a:ext cx="9525" cy="3762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Rounded Rectangle 20"/>
          <p:cNvSpPr/>
          <p:nvPr/>
        </p:nvSpPr>
        <p:spPr>
          <a:xfrm>
            <a:off x="8391525" y="3848100"/>
            <a:ext cx="2381250" cy="447675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609600" y="609600"/>
            <a:ext cx="11582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>
                <a:solidFill>
                  <a:srgbClr val="1E293B"/>
                </a:solidFill>
                <a:latin typeface="Inter"/>
              </a:rPr>
              <a:t>8 Fault Detection &amp; Machine States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5876925"/>
            <a:ext cx="107632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 u="none">
                <a:solidFill>
                  <a:srgbClr val="475569"/>
                </a:solidFill>
                <a:latin typeface="Inter"/>
              </a:rPr>
              <a:t>Alarm acknowledgement indicates that the operator has seen the alert; it does not automatically resolve the underlying fault.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1943100"/>
            <a:ext cx="116859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66534"/>
                </a:solidFill>
                <a:latin typeface="Inter"/>
              </a:rPr>
              <a:t>NORMAL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2495550"/>
            <a:ext cx="2971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14532D"/>
                </a:solidFill>
                <a:latin typeface="Inter"/>
              </a:rPr>
              <a:t>Readings within configured limits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225" y="3295650"/>
            <a:ext cx="16668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66534"/>
                </a:solidFill>
                <a:latin typeface="Inter"/>
              </a:rPr>
              <a:t>Output: Green 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7725" y="1943100"/>
            <a:ext cx="130484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B45309"/>
                </a:solidFill>
                <a:latin typeface="Inter"/>
              </a:rPr>
              <a:t>WARNING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7725" y="2495550"/>
            <a:ext cx="75379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78350F"/>
                </a:solidFill>
                <a:latin typeface="Inter"/>
              </a:rPr>
              <a:t>Examples: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2025" y="3962400"/>
            <a:ext cx="17049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B45309"/>
                </a:solidFill>
                <a:latin typeface="Inter"/>
              </a:rPr>
              <a:t>Output: Yellow 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1525" y="1943100"/>
            <a:ext cx="113172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B91C1C"/>
                </a:solidFill>
                <a:latin typeface="Inter"/>
              </a:rPr>
              <a:t>CRITICAL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1525" y="2495550"/>
            <a:ext cx="75379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7F1D1D"/>
                </a:solidFill>
                <a:latin typeface="Inter"/>
              </a:rPr>
              <a:t>Examples: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5825" y="3962400"/>
            <a:ext cx="22479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B91C1C"/>
                </a:solidFill>
                <a:latin typeface="Inter"/>
              </a:rPr>
              <a:t>Output: Red LED + Buzzer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91075" y="2771775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78350F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86325" y="2771775"/>
            <a:ext cx="1782539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78350F"/>
                </a:solidFill>
                <a:latin typeface="Inter"/>
              </a:rPr>
              <a:t>Abnormal temperature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91075" y="3067050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78350F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6325" y="3067050"/>
            <a:ext cx="1719830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78350F"/>
                </a:solidFill>
                <a:latin typeface="Inter"/>
              </a:rPr>
              <a:t>Electrical out-of-range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91075" y="3362325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78350F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86325" y="3362325"/>
            <a:ext cx="1456553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78350F"/>
                </a:solidFill>
                <a:latin typeface="Inter"/>
              </a:rPr>
              <a:t>Package-low event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4875" y="2771775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20125" y="2771775"/>
            <a:ext cx="1511119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7F1D1D"/>
                </a:solidFill>
                <a:latin typeface="Inter"/>
              </a:rPr>
              <a:t>Abnormal vibration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4875" y="3067050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20125" y="3067050"/>
            <a:ext cx="1336135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7F1D1D"/>
                </a:solidFill>
                <a:latin typeface="Inter"/>
              </a:rPr>
              <a:t>Yarn-break event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4875" y="3362325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20125" y="3362325"/>
            <a:ext cx="2156103" cy="23974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7F1D1D"/>
                </a:solidFill>
                <a:latin typeface="Inter"/>
              </a:rPr>
              <a:t>Configured critical condition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ounded Rectangle 2"/>
          <p:cNvSpPr/>
          <p:nvPr/>
        </p:nvSpPr>
        <p:spPr>
          <a:xfrm>
            <a:off x="609600" y="2628900"/>
            <a:ext cx="5257800" cy="22860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6324600" y="2628900"/>
            <a:ext cx="5257800" cy="228600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9400728" y="5610225"/>
            <a:ext cx="1943397" cy="3048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923925" y="3400425"/>
            <a:ext cx="57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1571625" y="3400425"/>
            <a:ext cx="57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2219325" y="3400425"/>
            <a:ext cx="57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2867025" y="3400425"/>
            <a:ext cx="57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3514725" y="3400425"/>
            <a:ext cx="57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6638925" y="3400425"/>
            <a:ext cx="571500" cy="5715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Rectangle 11"/>
          <p:cNvSpPr/>
          <p:nvPr/>
        </p:nvSpPr>
        <p:spPr>
          <a:xfrm>
            <a:off x="7286625" y="3400425"/>
            <a:ext cx="57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/>
          <p:cNvSpPr/>
          <p:nvPr/>
        </p:nvSpPr>
        <p:spPr>
          <a:xfrm>
            <a:off x="7934325" y="3400425"/>
            <a:ext cx="57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8582025" y="3400425"/>
            <a:ext cx="57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9229725" y="3400425"/>
            <a:ext cx="57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219575"/>
            <a:ext cx="1333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4219575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5624512"/>
            <a:ext cx="17145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876" y="5624512"/>
            <a:ext cx="1714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977" y="5624512"/>
            <a:ext cx="171450" cy="2000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600" y="609600"/>
            <a:ext cx="11582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>
                <a:solidFill>
                  <a:srgbClr val="1E293B"/>
                </a:solidFill>
                <a:latin typeface="Inter"/>
              </a:rPr>
              <a:t>9 Circular Buffer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1581150"/>
            <a:ext cx="1106805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334155"/>
                </a:solidFill>
                <a:latin typeface="Inter"/>
              </a:rPr>
              <a:t>Recent sensor readings need to be maintained efficiently.</a:t>
            </a:r>
            <a:r>
              <a:rPr sz="2000"/>
              <a:t>
</a:t>
            </a:r>
            <a:r>
              <a:rPr b="0" i="0" u="none">
                <a:solidFill>
                  <a:srgbClr val="334155"/>
                </a:solidFill>
                <a:latin typeface="Inter"/>
              </a:rPr>
              <a:t> New sensor sample arrives. Store at current write position. Advance write position. Wrap around at the end. Overwrite the oldest sample when full.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5610225"/>
            <a:ext cx="2295525" cy="246221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0F172A"/>
                </a:solidFill>
                <a:latin typeface="Inter"/>
              </a:rPr>
              <a:t>Fixed memory usage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8876" y="5610225"/>
            <a:ext cx="1895475" cy="246221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0F172A"/>
                </a:solidFill>
                <a:latin typeface="Inter"/>
              </a:rPr>
              <a:t>No array shifting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9977" y="5610225"/>
            <a:ext cx="2905125" cy="246221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0F172A"/>
                </a:solidFill>
                <a:latin typeface="Inter"/>
              </a:rPr>
              <a:t>Rolling / recent calculations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5028" y="5648325"/>
            <a:ext cx="181004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0F172A"/>
                </a:solidFill>
                <a:latin typeface="monospace"/>
              </a:rPr>
              <a:t>Insertion: O(1)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925" y="2943225"/>
            <a:ext cx="123925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Inter"/>
              </a:rPr>
              <a:t>BEFORE (FULL)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" y="4200525"/>
            <a:ext cx="4724400" cy="215444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0F172A"/>
                </a:solidFill>
                <a:latin typeface="Inter"/>
              </a:rPr>
              <a:t>new value 36 arrives — write pointer at slot 0 (oldest = 31)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925" y="2943225"/>
            <a:ext cx="53540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1E3A8A"/>
                </a:solidFill>
                <a:latin typeface="Inter"/>
              </a:rPr>
              <a:t>AFTER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8925" y="4200525"/>
            <a:ext cx="4724400" cy="215444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1E3A8A"/>
                </a:solidFill>
                <a:latin typeface="Inter"/>
              </a:rPr>
              <a:t>write pointer advances to slot 1; after slot 4 it wraps to slot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050" y="3532286"/>
            <a:ext cx="8572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u="none">
                <a:solidFill>
                  <a:srgbClr val="475569"/>
                </a:solidFill>
                <a:latin typeface="Inter"/>
              </a:rPr>
              <a:t>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8750" y="3532286"/>
            <a:ext cx="8572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u="none">
                <a:solidFill>
                  <a:srgbClr val="475569"/>
                </a:solidFill>
                <a:latin typeface="Inter"/>
              </a:rPr>
              <a:t>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6450" y="3532286"/>
            <a:ext cx="8572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u="none">
                <a:solidFill>
                  <a:srgbClr val="475569"/>
                </a:solidFill>
                <a:latin typeface="Inter"/>
              </a:rPr>
              <a:t>33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4150" y="3532286"/>
            <a:ext cx="8572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u="none">
                <a:solidFill>
                  <a:srgbClr val="475569"/>
                </a:solidFill>
                <a:latin typeface="Inter"/>
              </a:rPr>
              <a:t>34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1850" y="3532286"/>
            <a:ext cx="8572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u="none">
                <a:solidFill>
                  <a:srgbClr val="475569"/>
                </a:solidFill>
                <a:latin typeface="Inter"/>
              </a:rPr>
              <a:t>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6050" y="3532286"/>
            <a:ext cx="8572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u="none">
                <a:solidFill>
                  <a:srgbClr val="1E40AF"/>
                </a:solidFill>
                <a:latin typeface="Inter"/>
              </a:rPr>
              <a:t>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43750" y="3532286"/>
            <a:ext cx="8572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u="none">
                <a:solidFill>
                  <a:srgbClr val="475569"/>
                </a:solidFill>
                <a:latin typeface="Inter"/>
              </a:rPr>
              <a:t>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1450" y="3532286"/>
            <a:ext cx="8572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u="none">
                <a:solidFill>
                  <a:srgbClr val="475569"/>
                </a:solidFill>
                <a:latin typeface="Inter"/>
              </a:rPr>
              <a:t>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9150" y="3532286"/>
            <a:ext cx="8572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u="none">
                <a:solidFill>
                  <a:srgbClr val="475569"/>
                </a:solidFill>
                <a:latin typeface="Inter"/>
              </a:rPr>
              <a:t>34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86850" y="3532286"/>
            <a:ext cx="8572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u="none">
                <a:solidFill>
                  <a:srgbClr val="475569"/>
                </a:solidFill>
                <a:latin typeface="Inter"/>
              </a:rPr>
              <a:t>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ounded Rectangle 2"/>
          <p:cNvSpPr/>
          <p:nvPr/>
        </p:nvSpPr>
        <p:spPr>
          <a:xfrm>
            <a:off x="609600" y="4286250"/>
            <a:ext cx="3454449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4368849" y="4286250"/>
            <a:ext cx="3454449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8128099" y="4286250"/>
            <a:ext cx="3454449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609600" y="1581150"/>
            <a:ext cx="4206180" cy="647700"/>
          </a:xfrm>
          <a:prstGeom prst="roundRect">
            <a:avLst>
              <a:gd name="adj" fmla="val 1176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ounded Rectangle 6"/>
          <p:cNvSpPr/>
          <p:nvPr/>
        </p:nvSpPr>
        <p:spPr>
          <a:xfrm>
            <a:off x="609600" y="2381250"/>
            <a:ext cx="4206180" cy="647700"/>
          </a:xfrm>
          <a:prstGeom prst="roundRect">
            <a:avLst>
              <a:gd name="adj" fmla="val 11764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609600" y="3181350"/>
            <a:ext cx="4206180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609600" y="2219325"/>
            <a:ext cx="4206180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609600" y="3019425"/>
            <a:ext cx="4206180" cy="9525"/>
          </a:xfrm>
          <a:prstGeom prst="rect">
            <a:avLst/>
          </a:prstGeom>
          <a:solidFill>
            <a:srgbClr val="FDE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609600" y="3819525"/>
            <a:ext cx="4206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09600" y="609600"/>
            <a:ext cx="11582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>
                <a:solidFill>
                  <a:srgbClr val="1E293B"/>
                </a:solidFill>
                <a:latin typeface="Inter"/>
              </a:rPr>
              <a:t>10 Priority Queue Using Max Heap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5906" y="5838825"/>
            <a:ext cx="466018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i="1" u="none">
                <a:solidFill>
                  <a:srgbClr val="64748B"/>
                </a:solidFill>
                <a:latin typeface="Inter"/>
              </a:rPr>
              <a:t>These are example software priorities, not measured risk values.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2980" y="1804987"/>
            <a:ext cx="6404669" cy="1258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i="0" u="none">
                <a:solidFill>
                  <a:srgbClr val="334155"/>
                </a:solidFill>
                <a:latin typeface="Inter"/>
              </a:rPr>
              <a:t>Example max-heap: the highest-priority event sits at the root.</a:t>
            </a:r>
            <a:r>
              <a:rPr sz="2000"/>
              <a:t>
</a:t>
            </a:r>
            <a:r>
              <a:rPr b="0" i="0" u="none">
                <a:solidFill>
                  <a:srgbClr val="334155"/>
                </a:solidFill>
                <a:latin typeface="Inter"/>
              </a:rPr>
              <a:t> The system does not necessarily process events in the order they arrive. Instead, it selects the event with the highest assigned priority.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270" y="4524375"/>
            <a:ext cx="156510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64748B"/>
                </a:solidFill>
                <a:latin typeface="Inter"/>
              </a:rPr>
              <a:t>COMPLEXITY: INSERT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6268" y="4791075"/>
            <a:ext cx="102111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2563EB"/>
                </a:solidFill>
                <a:latin typeface="monospace"/>
              </a:rPr>
              <a:t>O(log 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1630" y="4524375"/>
            <a:ext cx="390888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64748B"/>
                </a:solidFill>
                <a:latin typeface="Inter"/>
              </a:rPr>
              <a:t>COMPLEXITY: REMOVE HIGHEST 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5517" y="4981575"/>
            <a:ext cx="102111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2563EB"/>
                </a:solidFill>
                <a:latin typeface="monospace"/>
              </a:rPr>
              <a:t>O(log 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880" y="4524375"/>
            <a:ext cx="390888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64748B"/>
                </a:solidFill>
                <a:latin typeface="Inter"/>
              </a:rPr>
              <a:t>COMPLEXITY: VIEW HIGHEST PRIORITY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7202" y="4981575"/>
            <a:ext cx="55624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2563EB"/>
                </a:solidFill>
                <a:latin typeface="monospace"/>
              </a:rPr>
              <a:t>O(1)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1766501"/>
            <a:ext cx="392043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u="none">
                <a:solidFill>
                  <a:srgbClr val="991B1B"/>
                </a:solidFill>
                <a:latin typeface="Inter"/>
              </a:rPr>
              <a:t>Critical Vibration </a:t>
            </a:r>
            <a:r>
              <a:rPr sz="1400" b="1" i="0" u="none">
                <a:solidFill>
                  <a:srgbClr val="B91C1C"/>
                </a:solidFill>
                <a:latin typeface="Inter"/>
              </a:rPr>
              <a:t>Priority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2566601"/>
            <a:ext cx="392043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u="none">
                <a:solidFill>
                  <a:srgbClr val="92400E"/>
                </a:solidFill>
                <a:latin typeface="Inter"/>
              </a:rPr>
              <a:t>Over-Temperature Warning </a:t>
            </a:r>
            <a:r>
              <a:rPr sz="1400" b="1" i="0" u="none">
                <a:solidFill>
                  <a:srgbClr val="B45309"/>
                </a:solidFill>
                <a:latin typeface="Inter"/>
              </a:rPr>
              <a:t>Priority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3366701"/>
            <a:ext cx="392043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u="none">
                <a:solidFill>
                  <a:srgbClr val="334155"/>
                </a:solidFill>
                <a:latin typeface="Inter"/>
              </a:rPr>
              <a:t>Package-Low Event </a:t>
            </a:r>
            <a:r>
              <a:rPr sz="1400" b="1" i="0" u="none">
                <a:solidFill>
                  <a:srgbClr val="475569"/>
                </a:solidFill>
                <a:latin typeface="Inter"/>
              </a:rPr>
              <a:t>Priority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609600" y="4991100"/>
            <a:ext cx="10972800" cy="1257300"/>
          </a:xfrm>
          <a:prstGeom prst="roundRect">
            <a:avLst>
              <a:gd name="adj" fmla="val 606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>
                <a:solidFill>
                  <a:srgbClr val="1E293B"/>
                </a:solidFill>
                <a:latin typeface="Inter"/>
              </a:rPr>
              <a:t>11 Circuit Design &amp;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5538" y="4457700"/>
            <a:ext cx="876092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334155"/>
                </a:solidFill>
                <a:latin typeface="Inter"/>
              </a:rPr>
              <a:t>Arduino Mega 2560 · MPU6050 · INA219 · DS18B20 · OLED · Rotary encoder · Push buttons · LEDs · Buzzer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5737" y="2767012"/>
            <a:ext cx="405540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64748B"/>
                </a:solidFill>
                <a:latin typeface="Inter"/>
              </a:rPr>
              <a:t>[Insert Wokwi circuit screenshot here]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5229225"/>
            <a:ext cx="230774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F172A"/>
                </a:solidFill>
                <a:latin typeface="Inter"/>
              </a:rPr>
              <a:t>COMMUNICATION INTERFACES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5581650"/>
            <a:ext cx="219461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2563EB"/>
                </a:solidFill>
                <a:latin typeface="Inter"/>
              </a:rPr>
              <a:t>I²C</a:t>
            </a:r>
            <a:r>
              <a:rPr sz="1400" b="1" i="0" u="none">
                <a:solidFill>
                  <a:srgbClr val="475569"/>
                </a:solidFill>
                <a:latin typeface="Inter"/>
              </a:rPr>
              <a:t>OLED, MPU6050, INA219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7094" y="5581650"/>
            <a:ext cx="219461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2563EB"/>
                </a:solidFill>
                <a:latin typeface="Inter"/>
              </a:rPr>
              <a:t>OneWire</a:t>
            </a:r>
            <a:r>
              <a:rPr sz="1400" b="1" i="0" u="none">
                <a:solidFill>
                  <a:srgbClr val="475569"/>
                </a:solidFill>
                <a:latin typeface="Inter"/>
              </a:rPr>
              <a:t>DS18B20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6464" y="5581650"/>
            <a:ext cx="219461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2563EB"/>
                </a:solidFill>
                <a:latin typeface="Inter"/>
              </a:rPr>
              <a:t>Digital inputs</a:t>
            </a:r>
            <a:r>
              <a:rPr sz="1400" b="1" i="0" u="none">
                <a:solidFill>
                  <a:srgbClr val="475569"/>
                </a:solidFill>
                <a:latin typeface="Inter"/>
              </a:rPr>
              <a:t>Encoder and buttons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5833" y="5581650"/>
            <a:ext cx="219461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2563EB"/>
                </a:solidFill>
                <a:latin typeface="Inter"/>
              </a:rPr>
              <a:t>Digital outputs</a:t>
            </a:r>
            <a:r>
              <a:rPr sz="1400" b="1" i="0" u="none">
                <a:solidFill>
                  <a:srgbClr val="475569"/>
                </a:solidFill>
                <a:latin typeface="Inter"/>
              </a:rPr>
              <a:t>LEDs and buzzer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45203" y="5581650"/>
            <a:ext cx="219461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2563EB"/>
                </a:solidFill>
                <a:latin typeface="Inter"/>
              </a:rPr>
              <a:t>SPI</a:t>
            </a:r>
            <a:r>
              <a:rPr sz="1400" b="1" i="0" u="none">
                <a:solidFill>
                  <a:srgbClr val="475569"/>
                </a:solidFill>
                <a:latin typeface="Inter"/>
              </a:rPr>
              <a:t>Optional microSD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6C402D4-16AF-A683-9729-89B9D5863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447" y="1231170"/>
            <a:ext cx="6389103" cy="30716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ounded Rectangle 2"/>
          <p:cNvSpPr/>
          <p:nvPr/>
        </p:nvSpPr>
        <p:spPr>
          <a:xfrm>
            <a:off x="609600" y="5657850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ounded Rectangle 3"/>
          <p:cNvSpPr/>
          <p:nvPr/>
        </p:nvSpPr>
        <p:spPr>
          <a:xfrm>
            <a:off x="609600" y="1581150"/>
            <a:ext cx="3505200" cy="3771900"/>
          </a:xfrm>
          <a:prstGeom prst="roundRect">
            <a:avLst>
              <a:gd name="adj" fmla="val 21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4343400" y="1581150"/>
            <a:ext cx="3505200" cy="3771900"/>
          </a:xfrm>
          <a:prstGeom prst="roundRect">
            <a:avLst>
              <a:gd name="adj" fmla="val 21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ounded Rectangle 5"/>
          <p:cNvSpPr/>
          <p:nvPr/>
        </p:nvSpPr>
        <p:spPr>
          <a:xfrm>
            <a:off x="8077200" y="1581150"/>
            <a:ext cx="3505200" cy="3771900"/>
          </a:xfrm>
          <a:prstGeom prst="roundRect">
            <a:avLst>
              <a:gd name="adj" fmla="val 21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619125" y="3171825"/>
            <a:ext cx="3486150" cy="217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4352925" y="3171825"/>
            <a:ext cx="3486150" cy="217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8086725" y="3171825"/>
            <a:ext cx="3486150" cy="217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609600" y="609600"/>
            <a:ext cx="11582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1E293B"/>
                </a:solidFill>
                <a:latin typeface="Inter"/>
              </a:rPr>
              <a:t>12 Simulation Working &amp; Example 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85750" y="5848350"/>
            <a:ext cx="127635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>
                <a:solidFill>
                  <a:srgbClr val="0F172A"/>
                </a:solidFill>
                <a:latin typeface="Inter"/>
              </a:rPr>
              <a:t>Yarn-break → Critical alert Package-low → Warning 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956" y="4134565"/>
            <a:ext cx="3900487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1" u="none">
                <a:solidFill>
                  <a:srgbClr val="0F172A"/>
                </a:solidFill>
                <a:latin typeface="Inter"/>
              </a:rPr>
              <a:t> [Wokwi screenshot]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5756" y="4134565"/>
            <a:ext cx="3900487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1" u="none">
                <a:solidFill>
                  <a:srgbClr val="0F172A"/>
                </a:solidFill>
                <a:latin typeface="Inter"/>
              </a:rPr>
              <a:t> [Wokwi screenshot]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9556" y="4134565"/>
            <a:ext cx="3900487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1" u="none">
                <a:solidFill>
                  <a:srgbClr val="0F172A"/>
                </a:solidFill>
                <a:latin typeface="Inter"/>
              </a:rPr>
              <a:t> [Wokwi screenshot]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1819275"/>
            <a:ext cx="218008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F172A"/>
                </a:solidFill>
                <a:latin typeface="Inter"/>
              </a:rPr>
              <a:t>Scenario 1 — 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1819275"/>
            <a:ext cx="228466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F172A"/>
                </a:solidFill>
                <a:latin typeface="Inter"/>
              </a:rPr>
              <a:t>Scenario 2 — 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1819275"/>
            <a:ext cx="214962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F172A"/>
                </a:solidFill>
                <a:latin typeface="Inter"/>
              </a:rPr>
              <a:t>Scenario 3 — 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2162175"/>
            <a:ext cx="1511632" cy="2464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Input within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2419350"/>
            <a:ext cx="1310359" cy="2464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→ Normal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2676525"/>
            <a:ext cx="1113382" cy="2464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600" b="1" i="0" u="none">
                <a:solidFill>
                  <a:srgbClr val="16A34A"/>
                </a:solidFill>
                <a:latin typeface="Inter"/>
              </a:rPr>
              <a:t>→ Green 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525" y="2162175"/>
            <a:ext cx="1510413" cy="2464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Threshold crossed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525" y="2419350"/>
            <a:ext cx="1451488" cy="2464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→ Warning 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525" y="2676525"/>
            <a:ext cx="1150187" cy="2464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600" b="1" i="0" u="none">
                <a:solidFill>
                  <a:srgbClr val="D97706"/>
                </a:solidFill>
                <a:latin typeface="Inter"/>
              </a:rPr>
              <a:t>→ Yellow 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5325" y="2162175"/>
            <a:ext cx="2819298" cy="2464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Critical condition / simulated fault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5325" y="2419350"/>
            <a:ext cx="1804853" cy="2464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→ High-priority event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5325" y="2676525"/>
            <a:ext cx="1677960" cy="2464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600" b="1" i="0" u="none">
                <a:solidFill>
                  <a:srgbClr val="DC2626"/>
                </a:solidFill>
                <a:latin typeface="Inter"/>
              </a:rPr>
              <a:t>→ Red LED + Buzzer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8C37DC9-380D-5B30-BD62-AE3D830BF4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8" r="6940"/>
          <a:stretch>
            <a:fillRect/>
          </a:stretch>
        </p:blipFill>
        <p:spPr>
          <a:xfrm>
            <a:off x="473867" y="3017996"/>
            <a:ext cx="3755233" cy="172597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74312F6-8582-58C0-6EE6-77990C8415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26" r="6173"/>
          <a:stretch>
            <a:fillRect/>
          </a:stretch>
        </p:blipFill>
        <p:spPr>
          <a:xfrm>
            <a:off x="4146295" y="3836629"/>
            <a:ext cx="3773436" cy="172597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529C18D-565A-9D14-795A-F7B7A26905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18" r="6318"/>
          <a:stretch>
            <a:fillRect/>
          </a:stretch>
        </p:blipFill>
        <p:spPr>
          <a:xfrm>
            <a:off x="7906671" y="3168435"/>
            <a:ext cx="3855512" cy="17528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ounded Rectangle 2"/>
          <p:cNvSpPr/>
          <p:nvPr/>
        </p:nvSpPr>
        <p:spPr>
          <a:xfrm>
            <a:off x="609600" y="1581150"/>
            <a:ext cx="3454449" cy="4705052"/>
          </a:xfrm>
          <a:prstGeom prst="roundRect">
            <a:avLst>
              <a:gd name="adj" fmla="val 22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4368849" y="1581150"/>
            <a:ext cx="3454449" cy="4705052"/>
          </a:xfrm>
          <a:prstGeom prst="roundRect">
            <a:avLst>
              <a:gd name="adj" fmla="val 2205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8128099" y="1581150"/>
            <a:ext cx="3454449" cy="4705052"/>
          </a:xfrm>
          <a:prstGeom prst="roundRect">
            <a:avLst>
              <a:gd name="adj" fmla="val 220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923925" y="2219325"/>
            <a:ext cx="282579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4683174" y="2219325"/>
            <a:ext cx="2825799" cy="19050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8442424" y="2219325"/>
            <a:ext cx="2825799" cy="19050"/>
          </a:xfrm>
          <a:prstGeom prst="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609600" y="609600"/>
            <a:ext cx="11582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>
                <a:solidFill>
                  <a:srgbClr val="1E293B"/>
                </a:solidFill>
                <a:latin typeface="Inter"/>
              </a:rPr>
              <a:t>13 Testing, Limitations &amp; Future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1895475"/>
            <a:ext cx="306710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F172A"/>
                </a:solidFill>
                <a:latin typeface="Inter"/>
              </a:rPr>
              <a:t>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3174" y="1895475"/>
            <a:ext cx="306710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991B1B"/>
                </a:solidFill>
                <a:latin typeface="Inter"/>
              </a:rPr>
              <a:t>CURRENT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2424" y="1895475"/>
            <a:ext cx="306710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166534"/>
                </a:solidFill>
                <a:latin typeface="Inter"/>
              </a:rP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2466022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2466975"/>
            <a:ext cx="1065997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Normal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2816512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2817465"/>
            <a:ext cx="1775743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Temperature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3167002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25" y="3167955"/>
            <a:ext cx="1511952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Vibration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275" y="351749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525" y="3518445"/>
            <a:ext cx="883575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Yarn-break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275" y="386798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525" y="3868935"/>
            <a:ext cx="1003993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Package-low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275" y="421847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525" y="4219426"/>
            <a:ext cx="1238031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Multiple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275" y="456896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525" y="4569916"/>
            <a:ext cx="1476430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Buffer wraparound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7275" y="4919454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525" y="4920406"/>
            <a:ext cx="1284006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Queue selection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7275" y="5269944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525" y="5270896"/>
            <a:ext cx="1919756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Alarm acknowledgement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7275" y="5620434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525" y="5621387"/>
            <a:ext cx="1271567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microSD logging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6524" y="2466022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1774" y="2466975"/>
            <a:ext cx="2692449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7F1D1D"/>
                </a:solidFill>
                <a:latin typeface="Inter"/>
              </a:rPr>
              <a:t>Five spindle stations are software-simulated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6524" y="3128902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1774" y="3129855"/>
            <a:ext cx="2692449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7F1D1D"/>
                </a:solidFill>
                <a:latin typeface="Inter"/>
              </a:rPr>
              <a:t>Rotary encoder is a setpoint control, not an RPM sensor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6524" y="379178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1774" y="3792735"/>
            <a:ext cx="2288512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7F1D1D"/>
                </a:solidFill>
                <a:latin typeface="Inter"/>
              </a:rPr>
              <a:t>Vibration analysis is simplified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16524" y="418037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1774" y="4181326"/>
            <a:ext cx="2692449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7F1D1D"/>
                </a:solidFill>
                <a:latin typeface="Inter"/>
              </a:rPr>
              <a:t>Electrical measurements require calibration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6524" y="4843254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1774" y="4844206"/>
            <a:ext cx="1990994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7F1D1D"/>
                </a:solidFill>
                <a:latin typeface="Inter"/>
              </a:rPr>
              <a:t>Thresholds are rule-based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6524" y="5231844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11774" y="5232796"/>
            <a:ext cx="2692449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7F1D1D"/>
                </a:solidFill>
                <a:latin typeface="Inter"/>
              </a:rPr>
              <a:t>microSD requires simulator compatibility testing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75774" y="2466022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71024" y="2466975"/>
            <a:ext cx="2692449" cy="25898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14532D"/>
                </a:solidFill>
                <a:latin typeface="Inter"/>
              </a:rPr>
              <a:t>Actual RPM measurement sensor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75774" y="3128902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71024" y="3129855"/>
            <a:ext cx="2692449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14532D"/>
                </a:solidFill>
                <a:latin typeface="Inter"/>
              </a:rPr>
              <a:t>Independent physical sensors for individual spindle stations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75774" y="379178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71024" y="3792735"/>
            <a:ext cx="2219390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14532D"/>
                </a:solidFill>
                <a:latin typeface="Inter"/>
              </a:rPr>
              <a:t>Real-machine measurements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75774" y="4180373"/>
            <a:ext cx="897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1024" y="4181326"/>
            <a:ext cx="1655903" cy="25898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b="0" i="0" u="none">
                <a:solidFill>
                  <a:srgbClr val="14532D"/>
                </a:solidFill>
                <a:latin typeface="Inter"/>
              </a:rPr>
              <a:t>Calibrated thresholds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609600" y="4895850"/>
            <a:ext cx="10972800" cy="10858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1147762" y="1581150"/>
            <a:ext cx="885825" cy="36195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2471737" y="1581150"/>
            <a:ext cx="1028700" cy="36195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3938587" y="1581150"/>
            <a:ext cx="1219200" cy="36195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ounded Rectangle 6"/>
          <p:cNvSpPr/>
          <p:nvPr/>
        </p:nvSpPr>
        <p:spPr>
          <a:xfrm>
            <a:off x="5595937" y="1581150"/>
            <a:ext cx="1619250" cy="36195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7653337" y="1581150"/>
            <a:ext cx="2038350" cy="36195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ounded Rectangle 8"/>
          <p:cNvSpPr/>
          <p:nvPr/>
        </p:nvSpPr>
        <p:spPr>
          <a:xfrm>
            <a:off x="10129837" y="1581150"/>
            <a:ext cx="914400" cy="36195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609600" y="4895850"/>
            <a:ext cx="57150" cy="10858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7" y="1685925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837" y="1685925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187" y="1685925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587" y="1685925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4087" y="1685925"/>
            <a:ext cx="13335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609600"/>
            <a:ext cx="11582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>
                <a:solidFill>
                  <a:srgbClr val="1E293B"/>
                </a:solidFill>
                <a:latin typeface="Inter"/>
              </a:rPr>
              <a:t>14 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0162" y="1657350"/>
            <a:ext cx="6762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2563EB"/>
                </a:solidFill>
                <a:latin typeface="Inter"/>
              </a:rPr>
              <a:t>INPUTS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4137" y="1657350"/>
            <a:ext cx="8191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2563EB"/>
                </a:solidFill>
                <a:latin typeface="Inter"/>
              </a:rPr>
              <a:t>ARDUINO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0987" y="1657350"/>
            <a:ext cx="10096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2563EB"/>
                </a:solidFill>
                <a:latin typeface="Inter"/>
              </a:rPr>
              <a:t>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8337" y="1657350"/>
            <a:ext cx="14097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2563EB"/>
                </a:solidFill>
                <a:latin typeface="Inter"/>
              </a:rPr>
              <a:t>BUFFER + 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5737" y="1657350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2563EB"/>
                </a:solidFill>
                <a:latin typeface="Inter"/>
              </a:rPr>
              <a:t>FAULT PRIORITIZATION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2237" y="1657350"/>
            <a:ext cx="7048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2563EB"/>
                </a:solidFill>
                <a:latin typeface="Inter"/>
              </a:rPr>
              <a:t>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2324100"/>
            <a:ext cx="6986464" cy="275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The prototype demonstrates embedded monitoring of selected machine conditions.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2762250"/>
            <a:ext cx="6206314" cy="275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Rule-based logic identifies configured warnings and simulated fault events.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3200400"/>
            <a:ext cx="3986284" cy="275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Circular Buffer stores recent readings efficiently.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3638550"/>
            <a:ext cx="5005345" cy="275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600" b="0" i="0" u="none">
                <a:solidFill>
                  <a:srgbClr val="334155"/>
                </a:solidFill>
                <a:latin typeface="Inter"/>
              </a:rPr>
              <a:t>Binary Heap Priority Queue prioritizes pending notifications.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4076700"/>
            <a:ext cx="7133107" cy="275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600" b="1" i="0" u="none">
                <a:solidFill>
                  <a:srgbClr val="0F172A"/>
                </a:solidFill>
                <a:latin typeface="Inter"/>
              </a:rPr>
              <a:t>Embedded systems and data structures can work together for condition monitoring.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350" y="5124450"/>
            <a:ext cx="105537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i="1" u="none">
                <a:solidFill>
                  <a:srgbClr val="0F172A"/>
                </a:solidFill>
                <a:latin typeface="Inter"/>
              </a:rPr>
              <a:t>“The system is an educational monitoring prototype. Real-machine deployment would require additional sensing, calibration, validation and appropriate industrial safety engineering.”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2678" y="6362700"/>
            <a:ext cx="1786643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00" b="1" i="0" u="none">
                <a:solidFill>
                  <a:srgbClr val="2563EB"/>
                </a:solidFill>
                <a:latin typeface="Inte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1167</Words>
  <Application>Microsoft Office PowerPoint</Application>
  <PresentationFormat>Widescreen</PresentationFormat>
  <Paragraphs>317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monospace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bharanidaran s</cp:lastModifiedBy>
  <cp:revision>14</cp:revision>
  <dcterms:created xsi:type="dcterms:W3CDTF">2013-01-27T09:14:16Z</dcterms:created>
  <dcterms:modified xsi:type="dcterms:W3CDTF">2026-10-16T13:45:31Z</dcterms:modified>
  <cp:category/>
</cp:coreProperties>
</file>